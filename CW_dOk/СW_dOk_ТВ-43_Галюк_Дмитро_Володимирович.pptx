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9" r:id="rId5"/>
    <p:sldId id="258" r:id="rId6"/>
    <p:sldId id="267" r:id="rId7"/>
    <p:sldId id="268" r:id="rId8"/>
    <p:sldId id="269" r:id="rId9"/>
    <p:sldId id="260" r:id="rId10"/>
    <p:sldId id="263" r:id="rId11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990" y="-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144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і об’є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176962"/>
            <a:ext cx="12192000" cy="681355"/>
          </a:xfrm>
          <a:custGeom>
            <a:avLst/>
            <a:gdLst/>
            <a:ahLst/>
            <a:cxnLst/>
            <a:rect l="l" t="t" r="r" b="b"/>
            <a:pathLst>
              <a:path w="12192000" h="681354">
                <a:moveTo>
                  <a:pt x="12192000" y="0"/>
                </a:moveTo>
                <a:lnTo>
                  <a:pt x="0" y="0"/>
                </a:lnTo>
                <a:lnTo>
                  <a:pt x="0" y="681037"/>
                </a:lnTo>
                <a:lnTo>
                  <a:pt x="12192000" y="6810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177" y="117594"/>
            <a:ext cx="924520" cy="1350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209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uk-UA"/>
              <a:t>Редагувати стиль зразка тексту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4301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r>
              <a:rPr lang="uk-UA"/>
              <a:t>Зразок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1751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858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8123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33413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12191936" y="0"/>
                </a:moveTo>
                <a:lnTo>
                  <a:pt x="0" y="0"/>
                </a:lnTo>
                <a:lnTo>
                  <a:pt x="0" y="524586"/>
                </a:lnTo>
                <a:lnTo>
                  <a:pt x="12191936" y="524586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01"/>
            <a:ext cx="12192000" cy="525145"/>
          </a:xfrm>
          <a:custGeom>
            <a:avLst/>
            <a:gdLst/>
            <a:ahLst/>
            <a:cxnLst/>
            <a:rect l="l" t="t" r="r" b="b"/>
            <a:pathLst>
              <a:path w="12192000" h="525145">
                <a:moveTo>
                  <a:pt x="0" y="0"/>
                </a:moveTo>
                <a:lnTo>
                  <a:pt x="12191936" y="0"/>
                </a:lnTo>
                <a:lnTo>
                  <a:pt x="12191936" y="524598"/>
                </a:lnTo>
              </a:path>
            </a:pathLst>
          </a:custGeom>
          <a:ln w="9525">
            <a:solidFill>
              <a:srgbClr val="1C3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0" y="0"/>
                </a:lnTo>
                <a:lnTo>
                  <a:pt x="0" y="1206004"/>
                </a:lnTo>
                <a:lnTo>
                  <a:pt x="12191936" y="1206004"/>
                </a:lnTo>
                <a:lnTo>
                  <a:pt x="12191936" y="0"/>
                </a:lnTo>
                <a:close/>
              </a:path>
            </a:pathLst>
          </a:custGeom>
          <a:solidFill>
            <a:srgbClr val="1C39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1206500"/>
          </a:xfrm>
          <a:custGeom>
            <a:avLst/>
            <a:gdLst/>
            <a:ahLst/>
            <a:cxnLst/>
            <a:rect l="l" t="t" r="r" b="b"/>
            <a:pathLst>
              <a:path w="12192000" h="1206500">
                <a:moveTo>
                  <a:pt x="12191936" y="0"/>
                </a:moveTo>
                <a:lnTo>
                  <a:pt x="12191936" y="1205992"/>
                </a:lnTo>
                <a:lnTo>
                  <a:pt x="0" y="1205992"/>
                </a:lnTo>
              </a:path>
            </a:pathLst>
          </a:custGeom>
          <a:ln w="9525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204" y="55999"/>
            <a:ext cx="731591" cy="10624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9229" y="158364"/>
            <a:ext cx="9473541" cy="1245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F38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5289" y="1334694"/>
            <a:ext cx="10801421" cy="2847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8205-8E98-4351-9F1C-1DD4555500F7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79FDD-8895-48C4-B134-F13FA7C2D7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13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5287" y="1925942"/>
            <a:ext cx="11661913" cy="4339650"/>
          </a:xfrm>
        </p:spPr>
        <p:txBody>
          <a:bodyPr/>
          <a:lstStyle/>
          <a:p>
            <a:r>
              <a:rPr lang="uk-UA" sz="4000" b="1" dirty="0"/>
              <a:t/>
            </a:r>
            <a:br>
              <a:rPr lang="uk-UA" sz="4000" b="1" dirty="0"/>
            </a:br>
            <a:r>
              <a:rPr lang="uk-UA" sz="4000" b="1" dirty="0"/>
              <a:t/>
            </a:r>
            <a:br>
              <a:rPr lang="uk-UA" sz="4000" b="1" dirty="0"/>
            </a:br>
            <a:r>
              <a:rPr lang="ru-RU" sz="3400" b="1" dirty="0" err="1" smtClean="0"/>
              <a:t>Додаток</a:t>
            </a:r>
            <a:r>
              <a:rPr lang="ru-RU" sz="3400" b="1" dirty="0" smtClean="0"/>
              <a:t> для персонального </a:t>
            </a:r>
            <a:r>
              <a:rPr lang="ru-RU" sz="3400" b="1" dirty="0" err="1" smtClean="0"/>
              <a:t>блогу</a:t>
            </a:r>
            <a:r>
              <a:rPr lang="uk-UA" sz="4000" b="1" dirty="0"/>
              <a:t/>
            </a:r>
            <a:br>
              <a:rPr lang="uk-UA" sz="4000" b="1" dirty="0"/>
            </a:br>
            <a:r>
              <a:rPr lang="uk-UA" sz="4000" b="1" dirty="0"/>
              <a:t/>
            </a:r>
            <a:br>
              <a:rPr lang="uk-UA" sz="4000" b="1" dirty="0"/>
            </a:br>
            <a:r>
              <a:rPr lang="uk-UA" sz="3200" u="sng" dirty="0"/>
              <a:t>Виконав:</a:t>
            </a:r>
            <a:r>
              <a:rPr lang="uk-UA" sz="3200" dirty="0"/>
              <a:t> </a:t>
            </a:r>
            <a:r>
              <a:rPr lang="uk-UA" sz="3200" dirty="0" smtClean="0"/>
              <a:t>Галюк Дмитро Володимирович, </a:t>
            </a:r>
            <a:r>
              <a:rPr lang="uk-UA" sz="3200" dirty="0"/>
              <a:t>група </a:t>
            </a:r>
            <a:r>
              <a:rPr lang="uk-UA" sz="3200" dirty="0" smtClean="0"/>
              <a:t>ТВ-43</a:t>
            </a:r>
            <a:r>
              <a:rPr lang="uk-UA" sz="4000" b="1" dirty="0"/>
              <a:t/>
            </a:r>
            <a:br>
              <a:rPr lang="uk-UA" sz="4000" b="1" dirty="0"/>
            </a:br>
            <a:r>
              <a:rPr lang="uk-UA" sz="3200" u="sng" dirty="0"/>
              <a:t>Перевірив:</a:t>
            </a:r>
            <a:r>
              <a:rPr lang="uk-UA" sz="4000" dirty="0"/>
              <a:t> </a:t>
            </a:r>
            <a:r>
              <a:rPr lang="uk-UA" sz="3200" dirty="0" err="1" smtClean="0"/>
              <a:t>Недашківський</a:t>
            </a:r>
            <a:r>
              <a:rPr lang="uk-UA" sz="3200" dirty="0" smtClean="0"/>
              <a:t> Олексій Леонідович</a:t>
            </a:r>
            <a:r>
              <a:rPr lang="uk-UA" sz="3200" dirty="0"/>
              <a:t/>
            </a:r>
            <a:br>
              <a:rPr lang="uk-UA" sz="3200" dirty="0"/>
            </a:br>
            <a:r>
              <a:rPr lang="uk-UA" sz="2400" dirty="0"/>
              <a:t>Посилання на </a:t>
            </a:r>
            <a:r>
              <a:rPr lang="en-US" sz="2400" dirty="0"/>
              <a:t>GitHub </a:t>
            </a:r>
            <a:r>
              <a:rPr lang="uk-UA" sz="2400" dirty="0"/>
              <a:t>репозиторій: </a:t>
            </a:r>
            <a:r>
              <a:rPr lang="en-US" sz="2400" dirty="0" smtClean="0"/>
              <a:t>https://github.com/Ligolaz/Web_kursuch</a:t>
            </a:r>
            <a:r>
              <a:rPr lang="uk-UA" sz="3200" dirty="0"/>
              <a:t/>
            </a:r>
            <a:br>
              <a:rPr lang="uk-UA" sz="3200" dirty="0"/>
            </a:br>
            <a:r>
              <a:rPr lang="uk-UA" sz="3200" dirty="0" smtClean="0"/>
              <a:t>2026</a:t>
            </a:r>
            <a:endParaRPr lang="uk-UA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88" y="1170603"/>
            <a:ext cx="11661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</a:rPr>
              <a:t>Навчально-науковий інститут атомної та теплової енергетики</a:t>
            </a:r>
          </a:p>
          <a:p>
            <a:pPr algn="ctr"/>
            <a:r>
              <a:rPr lang="uk-UA" sz="3200" dirty="0">
                <a:solidFill>
                  <a:srgbClr val="002060"/>
                </a:solidFill>
              </a:rPr>
              <a:t>Кафедра інженерії програмного забезпечення в енергетиці</a:t>
            </a:r>
          </a:p>
          <a:p>
            <a:pPr algn="ctr"/>
            <a:r>
              <a:rPr lang="uk-UA" sz="3200" b="1" dirty="0">
                <a:solidFill>
                  <a:srgbClr val="002060"/>
                </a:solidFill>
              </a:rPr>
              <a:t>Основи Веб-програмування. Курсова робота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1/10</a:t>
            </a:r>
            <a:endParaRPr lang="uk-U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885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1197138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Актуальність теми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52822" y="2120467"/>
            <a:ext cx="11086353" cy="2462213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Актуальність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Зростаюча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потреба у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сфокусованих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платформах 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обміну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авторським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контентом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що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не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перевантажені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зайвим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функціоналом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глобальних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соцмереж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Мета: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Розробити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веб-додаток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публікації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новин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забезпечення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зручної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інтерактивної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взаємодії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користувачів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Основні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завдання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Проєктування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реляційної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бази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Створення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REST API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клієнт-серверної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взаємодії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Розробка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адаптивного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користувацького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інтерфейсу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Реалізація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системи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деревоподібних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коментарів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2/10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xmlns="" val="284678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80811"/>
            <a:ext cx="9144000" cy="1846659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Архітектура </a:t>
            </a:r>
            <a:r>
              <a:rPr lang="uk-UA" dirty="0">
                <a:solidFill>
                  <a:srgbClr val="002060"/>
                </a:solidFill>
              </a:rPr>
              <a:t/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94659" y="2460531"/>
            <a:ext cx="11002681" cy="3447098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Архітектурний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підхід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Монолітна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клієнт-серверна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модель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Серверна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частина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Backend):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Платформа: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Node.js + Express.js.</a:t>
            </a:r>
          </a:p>
          <a:p>
            <a:pPr algn="l"/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Обробка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медіафайлів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middleware 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multer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Клієнтська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частина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</a:t>
            </a:r>
            <a:r>
              <a:rPr lang="en-US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Frontend):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Базові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технології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Vanilla HTML, CSS,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JavaScript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Взаємодія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асинхронні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запити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Fetch API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База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Система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керування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базами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MySQL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Підключення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драйвер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mysql2/promise.</a:t>
            </a:r>
          </a:p>
          <a:p>
            <a:pPr algn="r"/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Діаграма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компонентів</a:t>
            </a:r>
            <a:r>
              <a:rPr lang="en-US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</a:t>
            </a:r>
            <a:endParaRPr lang="ru-RU" sz="1600" b="1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3/10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5652" y="2386682"/>
            <a:ext cx="4263477" cy="319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42344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1221336"/>
            <a:ext cx="9144000" cy="2769989"/>
          </a:xfrm>
        </p:spPr>
        <p:txBody>
          <a:bodyPr/>
          <a:lstStyle/>
          <a:p>
            <a:r>
              <a:rPr lang="uk-UA" dirty="0" err="1" smtClean="0">
                <a:solidFill>
                  <a:srgbClr val="002060"/>
                </a:solidFill>
              </a:rPr>
              <a:t>Проєктування</a:t>
            </a:r>
            <a:r>
              <a:rPr lang="uk-UA" dirty="0" smtClean="0">
                <a:solidFill>
                  <a:srgbClr val="002060"/>
                </a:solidFill>
              </a:rPr>
              <a:t> бази даних </a:t>
            </a:r>
            <a:r>
              <a:rPr lang="uk-UA" dirty="0">
                <a:solidFill>
                  <a:srgbClr val="002060"/>
                </a:solidFill>
              </a:rPr>
              <a:t/>
            </a:r>
            <a:br>
              <a:rPr lang="uk-UA" dirty="0">
                <a:solidFill>
                  <a:srgbClr val="002060"/>
                </a:solidFill>
              </a:rPr>
            </a:br>
            <a:r>
              <a:rPr lang="uk-UA" dirty="0">
                <a:solidFill>
                  <a:srgbClr val="002060"/>
                </a:solidFill>
              </a:rPr>
              <a:t/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12904" y="2702407"/>
            <a:ext cx="10366190" cy="3200876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Структура: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6 взаємопов'язаних сутностей (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User,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Category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News, 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PostImages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Comments, Notifications).</a:t>
            </a: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Особливості реалізації:</a:t>
            </a:r>
          </a:p>
          <a:p>
            <a:pPr algn="l">
              <a:buFont typeface="Courier New" pitchFamily="49" charset="0"/>
              <a:buChar char="o"/>
            </a:pP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Каскадне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видалення (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ON DELETE CASCADE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Автоматичне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очищення коментарів та </a:t>
            </a:r>
            <a:r>
              <a:rPr lang="uk-UA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медіафайлів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видаленні публікації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Рекурсивний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зв'язок (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Self-Join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):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Таблиця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коментарів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містить 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parent_id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побудови гіллястого дерева відповідей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Діаграма </a:t>
            </a:r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бази </a:t>
            </a:r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	</a:t>
            </a:r>
            <a:endParaRPr lang="uk-UA" sz="1600" b="1" i="0" dirty="0">
              <a:solidFill>
                <a:srgbClr val="00206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4</a:t>
            </a:r>
            <a:r>
              <a:rPr lang="uk-UA" sz="2400" dirty="0" smtClean="0">
                <a:solidFill>
                  <a:schemeClr val="bg1"/>
                </a:solidFill>
              </a:rPr>
              <a:t>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7578" y="2311139"/>
            <a:ext cx="4263939" cy="3326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69112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19199" y="1252151"/>
            <a:ext cx="9803027" cy="1161534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Логіка роботи сервера 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529241" y="2332849"/>
            <a:ext cx="11132672" cy="3693319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Взаємодія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Обробка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HTTP-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запитів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використанням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параметризованих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виразів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захисту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від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SQL-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ін'єкцій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Ключові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процеси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(на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прикладі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створення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поста):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Транзакційне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збереження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тексту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масиву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зображень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Автоматична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перевірка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тексту</a:t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наявність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адресних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згадок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формату @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username.</a:t>
            </a: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Формування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строго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після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успішного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збереження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публікації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Діаграма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послідовності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endParaRPr lang="ru-RU" sz="1600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5</a:t>
            </a:r>
            <a:r>
              <a:rPr lang="uk-UA" sz="2400" dirty="0" smtClean="0">
                <a:solidFill>
                  <a:schemeClr val="bg1"/>
                </a:solidFill>
              </a:rPr>
              <a:t>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48151" y="2550114"/>
            <a:ext cx="4695568" cy="3125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27145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69148"/>
            <a:ext cx="9144000" cy="923330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Інтерфейс користувача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995082" y="2586694"/>
            <a:ext cx="10201835" cy="3416320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Дизайн: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Темна тема 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зниження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навантаження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зір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Навігація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Динамічне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меню,</a:t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що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розширюється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після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успішної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авторизації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Функціонал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стрічки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новин: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Підтримка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пагінації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-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розбиття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сторінки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Фільтрація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публікацій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за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категоріями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Динамічний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пошук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за текстом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іменами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авторів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r>
              <a:rPr lang="uk-UA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кріншот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оловної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сторінки</a:t>
            </a:r>
            <a:endParaRPr lang="ru-RU" sz="1600" b="1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uk-UA" sz="1400" b="0" i="0" dirty="0">
              <a:solidFill>
                <a:srgbClr val="00206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6/10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7934" y="2751438"/>
            <a:ext cx="5428735" cy="2693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5832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079155"/>
            <a:ext cx="12192000" cy="1828801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Створення та відображення контенту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214184" y="2907956"/>
            <a:ext cx="11606341" cy="3200876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Генерація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контенту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Зручна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форма 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введення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тексту,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вибору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категорій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прикріплення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фотографій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Візуалізація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публікацій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Автоматичне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групування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декількох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зображень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інтерактивний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слайдер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Вбудовування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YouTube-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відео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Google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Карт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через 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iFrame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algn="l"/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Стилізація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зовнішніх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об'єктів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за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допомогою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CSS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ідеальної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інтеграції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в дизайн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Скріншоти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форми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створення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поста та готового 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поста</a:t>
            </a:r>
            <a:endParaRPr lang="ru-RU" sz="1600" b="1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7/10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11329" y="2955150"/>
            <a:ext cx="2821073" cy="2872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69859" y="2957628"/>
            <a:ext cx="2730835" cy="2866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6691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75125"/>
            <a:ext cx="9144000" cy="923330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Інтерактивна взаємодія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284671" y="2458527"/>
            <a:ext cx="11731925" cy="3693319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Дерево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коментарів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Клієнтська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рекурсивна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функція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перетворює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плоский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масив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бази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багаторівневу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структуру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відповідей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Система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сповіщень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Підсвічування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згадок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інших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користувачів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у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тексті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Індикація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нових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подій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у глобальному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меню</a:t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через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випадаючий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список.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Миттєвий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перехід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до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публікації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натисканні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uk-UA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r"/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кріншот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дерева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коментарів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відкритого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меню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сповіщень</a:t>
            </a:r>
            <a:endParaRPr lang="ru-RU" sz="1600" b="1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15061" y="6350230"/>
            <a:ext cx="2650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8/10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3660" y="2282123"/>
            <a:ext cx="3493699" cy="3601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0713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1228683"/>
            <a:ext cx="9144000" cy="923330"/>
          </a:xfrm>
        </p:spPr>
        <p:txBody>
          <a:bodyPr/>
          <a:lstStyle/>
          <a:p>
            <a:r>
              <a:rPr lang="uk-UA" dirty="0" smtClean="0">
                <a:solidFill>
                  <a:srgbClr val="002060"/>
                </a:solidFill>
              </a:rPr>
              <a:t>Тестування та результати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728701" y="2265565"/>
            <a:ext cx="10734595" cy="2462213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Функціональне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тестування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Усі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ключові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клієнтські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сценарії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працюють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стабільно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Вирішені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технічні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задачі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Безпека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Реалізовано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жорстку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валідацію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Display Name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перевірку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прав доступу при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видаленні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контенту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ru-RU" sz="1600" b="1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Оптимізація</a:t>
            </a:r>
            <a:r>
              <a:rPr lang="ru-RU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БД: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Впроваджено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алгоритм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стека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сповіщень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берігається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строго 5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останніх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повідомлень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для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економії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пам'яті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/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Courier New" pitchFamily="49" charset="0"/>
              <a:buChar char="o"/>
            </a:pPr>
            <a:r>
              <a:rPr lang="en-US" sz="1600" b="1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UI/UX: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Налаштовано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коректне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відображення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елементів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сайту як 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комп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’</a:t>
            </a:r>
            <a:r>
              <a:rPr lang="uk-UA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ютері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ratio 16:9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uk-UA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так і на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мобільних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пристроях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(ratio 9:16)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6251" y="6350230"/>
            <a:ext cx="3029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9/1</a:t>
            </a:r>
            <a:r>
              <a:rPr lang="en-US" sz="2400" dirty="0" smtClean="0">
                <a:solidFill>
                  <a:schemeClr val="bg1"/>
                </a:solidFill>
              </a:rPr>
              <a:t>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xmlns="" val="121555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412292"/>
            <a:ext cx="9144000" cy="1846659"/>
          </a:xfrm>
        </p:spPr>
        <p:txBody>
          <a:bodyPr/>
          <a:lstStyle/>
          <a:p>
            <a:r>
              <a:rPr lang="uk-UA" dirty="0">
                <a:solidFill>
                  <a:srgbClr val="002060"/>
                </a:solidFill>
              </a:rPr>
              <a:t>Висновки</a:t>
            </a:r>
            <a:br>
              <a:rPr lang="uk-UA" dirty="0">
                <a:solidFill>
                  <a:srgbClr val="002060"/>
                </a:solidFill>
              </a:rPr>
            </a:b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612587" y="2562727"/>
            <a:ext cx="10966825" cy="1723549"/>
          </a:xfrm>
        </p:spPr>
        <p:txBody>
          <a:bodyPr/>
          <a:lstStyle/>
          <a:p>
            <a:pPr algn="l">
              <a:buFont typeface="Arial" pitchFamily="34" charset="0"/>
              <a:buChar char="•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Проаналізовано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принципи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побудови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сучасних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веб-додатків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спроектовано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оптимізовану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базу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даних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Успішно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реалізовано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платформу 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«</a:t>
            </a:r>
            <a:r>
              <a:rPr lang="en-US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BlogHub</a:t>
            </a:r>
            <a:r>
              <a:rPr lang="en-US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»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із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розподіленою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архітектурою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Розроблено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зручний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адаптивний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інтерфейс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та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налаштовано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надійну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серверну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логіку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endParaRPr lang="ru-RU" sz="1600" dirty="0" smtClean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Усі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поставлені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завдання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виконано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в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повному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ru-RU" sz="1600" dirty="0" err="1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обсязі</a:t>
            </a:r>
            <a:r>
              <a:rPr lang="ru-RU" sz="1600" dirty="0" smtClean="0"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ru-RU" sz="1600" dirty="0">
              <a:solidFill>
                <a:srgbClr val="00206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8330" y="6350230"/>
            <a:ext cx="1007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uk-UA" sz="2400" dirty="0" smtClean="0">
                <a:solidFill>
                  <a:schemeClr val="bg1"/>
                </a:solidFill>
              </a:rPr>
              <a:t>1</a:t>
            </a:r>
            <a:r>
              <a:rPr lang="en-US" sz="2400" dirty="0" smtClean="0">
                <a:solidFill>
                  <a:schemeClr val="bg1"/>
                </a:solidFill>
              </a:rPr>
              <a:t>0</a:t>
            </a:r>
            <a:r>
              <a:rPr lang="uk-UA" sz="2400" dirty="0" smtClean="0">
                <a:solidFill>
                  <a:schemeClr val="bg1"/>
                </a:solidFill>
              </a:rPr>
              <a:t>/1</a:t>
            </a:r>
            <a:r>
              <a:rPr lang="en-US" sz="2400" dirty="0" smtClean="0">
                <a:solidFill>
                  <a:schemeClr val="bg1"/>
                </a:solidFill>
              </a:rPr>
              <a:t>0</a:t>
            </a:r>
            <a:endParaRPr lang="uk-UA" sz="2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0525" y="54913"/>
            <a:ext cx="6165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>
                <a:solidFill>
                  <a:schemeClr val="bg1"/>
                </a:solidFill>
              </a:rPr>
              <a:t>НАЦІОНАЛЬНИЙ ТЕХНІЧНИЙ УНІВЕРСИТЕТ УКРАЇНИ</a:t>
            </a:r>
          </a:p>
          <a:p>
            <a:r>
              <a:rPr lang="uk-UA" dirty="0">
                <a:solidFill>
                  <a:schemeClr val="bg1"/>
                </a:solidFill>
              </a:rPr>
              <a:t>«КИЇВСЬКИЙ ПОЛІТЕХНІЧНИЙ ІНСТИТУТ</a:t>
            </a:r>
          </a:p>
          <a:p>
            <a:r>
              <a:rPr lang="uk-UA" dirty="0">
                <a:solidFill>
                  <a:schemeClr val="bg1"/>
                </a:solidFill>
              </a:rPr>
              <a:t>імені ІГОРЯ СІКОРСЬКОГО»</a:t>
            </a:r>
          </a:p>
        </p:txBody>
      </p:sp>
    </p:spTree>
    <p:extLst>
      <p:ext uri="{BB962C8B-B14F-4D97-AF65-F5344CB8AC3E}">
        <p14:creationId xmlns:p14="http://schemas.microsoft.com/office/powerpoint/2010/main" xmlns="" val="391281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4">
  <a:themeElements>
    <a:clrScheme name="Офіс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фіс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Тема4" id="{462375DE-8928-429B-B01E-09E2FDA995FC}" vid="{78FACF3B-D61D-4CDD-A381-200BC8A0536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Тема4</Template>
  <TotalTime>257</TotalTime>
  <Words>454</Words>
  <Application>Microsoft Office PowerPoint</Application>
  <PresentationFormat>Произвольный</PresentationFormat>
  <Paragraphs>146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Тема4</vt:lpstr>
      <vt:lpstr>  Додаток для персонального блогу  Виконав: Галюк Дмитро Володимирович, група ТВ-43 Перевірив: Недашківський Олексій Леонідович Посилання на GitHub репозиторій: https://github.com/Ligolaz/Web_kursuch 2026</vt:lpstr>
      <vt:lpstr>Актуальність теми </vt:lpstr>
      <vt:lpstr>Архітектура  </vt:lpstr>
      <vt:lpstr>Проєктування бази даних   </vt:lpstr>
      <vt:lpstr>Логіка роботи сервера </vt:lpstr>
      <vt:lpstr>Інтерфейс користувача</vt:lpstr>
      <vt:lpstr>Створення та відображення контенту</vt:lpstr>
      <vt:lpstr>Інтерактивна взаємодія</vt:lpstr>
      <vt:lpstr>Тестування та результати</vt:lpstr>
      <vt:lpstr>Висновки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роботи  ПІБ студента, група ПІБ наукового керівника, посада  Рік захисту</dc:title>
  <dc:creator>Olha Zalevska</dc:creator>
  <cp:lastModifiedBy>user</cp:lastModifiedBy>
  <cp:revision>64</cp:revision>
  <dcterms:created xsi:type="dcterms:W3CDTF">2024-05-18T16:47:00Z</dcterms:created>
  <dcterms:modified xsi:type="dcterms:W3CDTF">2026-05-17T14:29:26Z</dcterms:modified>
</cp:coreProperties>
</file>